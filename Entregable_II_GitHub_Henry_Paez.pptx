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B36C"/>
    <a:srgbClr val="E7F5EC"/>
    <a:srgbClr val="2DA4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5776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PDF: Henry_Paez_Entregable_I.pdf (elección de GitHub por facilidad de uso, popularidad y funciones principales).
- User-provided PDF: Descripción de Entregable II.pdf (la presentación debe implementar la tecnología explorada y apoyarse en slides).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PDF: Henry_Paez_Entregable_I.pdf (comparación entre GitHub y GitLab; preferencia por GitHub).
- User-provided PDF: Descripción de Entregable II.pdf (solicita alcance tentativo y características relevantes de la tecnología).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PDF: Descripción de Entregable II.pdf (debe presentarse el alcance tentativo de la implementación).
- User-provided PDF: Henry_Paez_Entregable_I.pdf (destaca ramas, pull requests e Issues como funciones relevantes de GitHub).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PDF: Henry_Paez_Entregable_I.pdf (repositorios, ramas, pull requests, Issues y facilidad de uso como rasgos distintivos de GitHub).
- User-provided PDF: Descripción de Entregable II.pdf (deben enfatizarse las características más relevantes en función del alcance).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PDF: Henry_Paez_Entregable_I.pdf (ramas, pull requests, Issues y colaboración ordenada como funciones de GitHub).
- User-provided PDF: Descripción de Entregable II.pdf (la parte práctica debe explicar a mayor detalle las características seleccionadas).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PDF: Henry_Paez_Entregable_I.pdf (gestión de versiones como control de cambios, historial y trabajo en equipo).
- User-provided PDF: Descripción de Entregable II.pdf (se evalúa claridad, dominio y conclusiones durante la presentación).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PDF: Henry_Paez_Entregable_I.pdf (conclusión favorable a GitHub por su claridad y aplicabilidad).
- User-provided PDF: Descripción de Entregable II.pdf (la presentación debe cerrar con dominio, claridad y conclusiones).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wMnGF67T7P4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lecha: pentágono 14">
            <a:extLst>
              <a:ext uri="{FF2B5EF4-FFF2-40B4-BE49-F238E27FC236}">
                <a16:creationId xmlns:a16="http://schemas.microsoft.com/office/drawing/2014/main" id="{2CB41DC7-DD1B-4F8B-BBB8-BFD42E1CA11A}"/>
              </a:ext>
            </a:extLst>
          </p:cNvPr>
          <p:cNvSpPr/>
          <p:nvPr/>
        </p:nvSpPr>
        <p:spPr>
          <a:xfrm>
            <a:off x="564776" y="2048256"/>
            <a:ext cx="6742067" cy="2381896"/>
          </a:xfrm>
          <a:prstGeom prst="homePlate">
            <a:avLst/>
          </a:prstGeom>
          <a:solidFill>
            <a:srgbClr val="E7F5EC"/>
          </a:solidFill>
          <a:ln>
            <a:solidFill>
              <a:srgbClr val="2DA4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solidFill>
                <a:srgbClr val="2DA44E"/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-35858"/>
            <a:ext cx="12191695" cy="146304"/>
          </a:xfrm>
          <a:prstGeom prst="rect">
            <a:avLst/>
          </a:prstGeom>
          <a:solidFill>
            <a:srgbClr val="2DA44E"/>
          </a:solidFill>
          <a:ln w="12700">
            <a:solidFill>
              <a:srgbClr val="2429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291072"/>
            <a:ext cx="1088136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13393" y="1692358"/>
            <a:ext cx="2863468" cy="2926080"/>
          </a:xfrm>
          <a:prstGeom prst="ellipse">
            <a:avLst/>
          </a:prstGeom>
          <a:solidFill>
            <a:srgbClr val="E7F5EC"/>
          </a:solidFill>
          <a:ln w="12700">
            <a:solidFill>
              <a:srgbClr val="2DA44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601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VE" sz="1600" b="1" dirty="0">
                <a:solidFill>
                  <a:srgbClr val="2DA44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ENTREGABLE II</a:t>
            </a:r>
            <a:endParaRPr lang="es-VE" sz="1600" dirty="0">
              <a:solidFill>
                <a:srgbClr val="2DA44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10075" y="1746504"/>
            <a:ext cx="6400800" cy="3003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VE" sz="24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Implementación de GitHub</a:t>
            </a:r>
            <a:endParaRPr lang="es-VE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s-VE" sz="24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como herramienta de</a:t>
            </a:r>
            <a:endParaRPr lang="es-VE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s-VE" sz="24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gestión de versiones</a:t>
            </a:r>
          </a:p>
          <a:p>
            <a:pPr marL="0" indent="0">
              <a:buNone/>
            </a:pPr>
            <a:endParaRPr lang="es-VE" sz="2400" b="1" dirty="0">
              <a:solidFill>
                <a:srgbClr val="111827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s-VE" sz="24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Link defensa: </a:t>
            </a:r>
            <a:r>
              <a:rPr lang="es-VE" sz="24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https://youtu.be/wMnGF67T7P4</a:t>
            </a:r>
            <a:endParaRPr lang="es-VE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005047" y="1143071"/>
            <a:ext cx="1280160" cy="329184"/>
          </a:xfrm>
          <a:prstGeom prst="rect">
            <a:avLst/>
          </a:prstGeom>
          <a:solidFill>
            <a:srgbClr val="E7F5EC"/>
          </a:solidFill>
          <a:ln>
            <a:solidFill>
              <a:srgbClr val="E7F5EC">
                <a:alpha val="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s-VE" sz="1250" b="1" dirty="0">
                <a:solidFill>
                  <a:srgbClr val="2DA44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GitHub</a:t>
            </a:r>
            <a:endParaRPr lang="es-VE" sz="12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54681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VE" sz="14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Henry Páez</a:t>
            </a:r>
            <a:endParaRPr lang="es-VE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s-VE" sz="14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C.I. 30.560.210</a:t>
            </a:r>
            <a:endParaRPr lang="es-VE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5870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VE" sz="115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Nuevas Tecnologías II</a:t>
            </a:r>
            <a:endParaRPr lang="es-VE" sz="11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07767" y="384039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3000" b="1" dirty="0">
                <a:solidFill>
                  <a:srgbClr val="24292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GITHUB</a:t>
            </a:r>
            <a:endParaRPr lang="es-VE" sz="3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06640" y="475398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250" b="1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Repositorios · Ramas · Pull requests · Issues</a:t>
            </a:r>
            <a:endParaRPr lang="es-VE" sz="125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292840" y="634593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VE" sz="105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01</a:t>
            </a:r>
            <a:endParaRPr lang="es-VE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28" name="Picture 4" descr="GitHub Status | Bitrise Integration Steps">
            <a:extLst>
              <a:ext uri="{FF2B5EF4-FFF2-40B4-BE49-F238E27FC236}">
                <a16:creationId xmlns:a16="http://schemas.microsoft.com/office/drawing/2014/main" id="{BBDE5369-7033-45B9-9EB6-207823187B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814317" y="2132564"/>
            <a:ext cx="1661620" cy="166162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oble onda 18">
            <a:extLst>
              <a:ext uri="{FF2B5EF4-FFF2-40B4-BE49-F238E27FC236}">
                <a16:creationId xmlns:a16="http://schemas.microsoft.com/office/drawing/2014/main" id="{CCF1FA5C-60EF-4A55-B08C-C2EBBA545576}"/>
              </a:ext>
            </a:extLst>
          </p:cNvPr>
          <p:cNvSpPr/>
          <p:nvPr/>
        </p:nvSpPr>
        <p:spPr>
          <a:xfrm>
            <a:off x="510092" y="802166"/>
            <a:ext cx="5095180" cy="2215353"/>
          </a:xfrm>
          <a:prstGeom prst="doubleWave">
            <a:avLst>
              <a:gd name="adj1" fmla="val 6250"/>
              <a:gd name="adj2" fmla="val -349"/>
            </a:avLst>
          </a:prstGeom>
          <a:solidFill>
            <a:srgbClr val="E7F5EC"/>
          </a:solidFill>
          <a:ln>
            <a:solidFill>
              <a:srgbClr val="2DA4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291072"/>
            <a:ext cx="1088136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404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 análisis a la implementación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406640" y="4114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Continuidad entre Entregable I y II</a:t>
            </a:r>
            <a:endParaRPr lang="en-US" sz="11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67512" y="1124722"/>
            <a:ext cx="4773168" cy="1408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 primer entregable comparó GitHub y GitLab.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conclusión fue usar GitHub por su interfaz amigable, su adopción amplia y su valor para proyectos académicos.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73741" y="3397633"/>
            <a:ext cx="1737360" cy="329184"/>
          </a:xfrm>
          <a:prstGeom prst="rect">
            <a:avLst/>
          </a:prstGeom>
          <a:solidFill>
            <a:srgbClr val="E7F5EC"/>
          </a:solidFill>
          <a:ln>
            <a:solidFill>
              <a:srgbClr val="E7F5EC">
                <a:alpha val="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A44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Elección justificada</a:t>
            </a:r>
            <a:endParaRPr lang="en-US" sz="12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543800" y="1901952"/>
            <a:ext cx="320040" cy="0"/>
          </a:xfrm>
          <a:prstGeom prst="line">
            <a:avLst/>
          </a:prstGeom>
          <a:noFill/>
          <a:ln w="12700">
            <a:solidFill>
              <a:srgbClr val="2DA44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674352" y="1901952"/>
            <a:ext cx="320040" cy="0"/>
          </a:xfrm>
          <a:prstGeom prst="line">
            <a:avLst/>
          </a:prstGeom>
          <a:noFill/>
          <a:ln w="12700">
            <a:solidFill>
              <a:srgbClr val="2DA44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715000" y="141732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24728" y="161848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Comparación</a:t>
            </a:r>
            <a:endParaRPr lang="en-US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GitHub vs GitLab</a:t>
            </a:r>
            <a:endParaRPr lang="en-US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6992" y="141732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E7F5EC"/>
          </a:solidFill>
          <a:ln w="12700">
            <a:solidFill>
              <a:srgbClr val="2DA44E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0" y="161848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Elección</a:t>
            </a:r>
            <a:endParaRPr lang="en-US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GitHub</a:t>
            </a:r>
            <a:endParaRPr lang="en-US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058400" y="1417320"/>
            <a:ext cx="2026024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113264" y="1627632"/>
            <a:ext cx="1916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Implementación</a:t>
            </a:r>
            <a:endParaRPr lang="en-US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práctica</a:t>
            </a:r>
            <a:endParaRPr lang="en-US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9808" y="38404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guía del Entregable II pide definir un alcance tentativo y explicar las características más relevantes de la tecnología en función de ese alcance.</a:t>
            </a:r>
            <a:endParaRPr lang="en-US" sz="1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Rectángulo: esquinas superiores, una redondeada y la otra cortada 19">
            <a:extLst>
              <a:ext uri="{FF2B5EF4-FFF2-40B4-BE49-F238E27FC236}">
                <a16:creationId xmlns:a16="http://schemas.microsoft.com/office/drawing/2014/main" id="{0A4FBA86-1E3B-434F-9A70-B193C9B911CE}"/>
              </a:ext>
            </a:extLst>
          </p:cNvPr>
          <p:cNvSpPr/>
          <p:nvPr/>
        </p:nvSpPr>
        <p:spPr>
          <a:xfrm>
            <a:off x="573741" y="4663440"/>
            <a:ext cx="10255624" cy="640074"/>
          </a:xfrm>
          <a:prstGeom prst="snipRoundRect">
            <a:avLst/>
          </a:prstGeom>
          <a:solidFill>
            <a:srgbClr val="E7F5EC"/>
          </a:solidFill>
          <a:ln>
            <a:solidFill>
              <a:srgbClr val="2DA4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/>
          </a:p>
        </p:txBody>
      </p:sp>
      <p:sp>
        <p:nvSpPr>
          <p:cNvPr id="17" name="Text 15"/>
          <p:cNvSpPr/>
          <p:nvPr/>
        </p:nvSpPr>
        <p:spPr>
          <a:xfrm>
            <a:off x="749808" y="46634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 eso la implementación se centra en un flujo básico de trabajo con GitHub: crear un repositorio, registrar cambios, trabajar con ramas y revisar integraciones.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292840" y="634593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02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Doble onda 36">
            <a:extLst>
              <a:ext uri="{FF2B5EF4-FFF2-40B4-BE49-F238E27FC236}">
                <a16:creationId xmlns:a16="http://schemas.microsoft.com/office/drawing/2014/main" id="{E65237D4-196D-456F-8D2F-601E4732E584}"/>
              </a:ext>
            </a:extLst>
          </p:cNvPr>
          <p:cNvSpPr/>
          <p:nvPr/>
        </p:nvSpPr>
        <p:spPr>
          <a:xfrm>
            <a:off x="694791" y="1197863"/>
            <a:ext cx="10802112" cy="722376"/>
          </a:xfrm>
          <a:prstGeom prst="doubleWave">
            <a:avLst>
              <a:gd name="adj1" fmla="val 6250"/>
              <a:gd name="adj2" fmla="val -83"/>
            </a:avLst>
          </a:prstGeom>
          <a:solidFill>
            <a:srgbClr val="E7F5E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291072"/>
            <a:ext cx="1088136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4047"/>
            <a:ext cx="6309360" cy="740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Alcance tentativo de la implementación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406640" y="4114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Alcance tentativo</a:t>
            </a:r>
            <a:endParaRPr lang="en-US" sz="11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9808" y="1142822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implementación no busca cubrir todas las funciones avanzadas de la plataforma. Se enfoca en un uso claro, realista y suficiente para demostrar gestión de versiones en un entorno universitario.</a:t>
            </a:r>
            <a:endParaRPr lang="en-US" sz="1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938528" y="2386584"/>
            <a:ext cx="384048" cy="0"/>
          </a:xfrm>
          <a:prstGeom prst="line">
            <a:avLst/>
          </a:prstGeom>
          <a:noFill/>
          <a:ln w="12700">
            <a:solidFill>
              <a:srgbClr val="2DA44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30552" y="2990088"/>
            <a:ext cx="384048" cy="0"/>
          </a:xfrm>
          <a:prstGeom prst="line">
            <a:avLst/>
          </a:prstGeom>
          <a:noFill/>
          <a:ln w="12700">
            <a:solidFill>
              <a:srgbClr val="2DA44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23141" y="3694176"/>
            <a:ext cx="384048" cy="0"/>
          </a:xfrm>
          <a:prstGeom prst="line">
            <a:avLst/>
          </a:prstGeom>
          <a:noFill/>
          <a:ln w="12700">
            <a:solidFill>
              <a:srgbClr val="2DA44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85519" y="4443984"/>
            <a:ext cx="384048" cy="0"/>
          </a:xfrm>
          <a:prstGeom prst="line">
            <a:avLst/>
          </a:prstGeom>
          <a:noFill/>
          <a:ln w="12700">
            <a:solidFill>
              <a:srgbClr val="2DA44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814457" y="5266586"/>
            <a:ext cx="384048" cy="0"/>
          </a:xfrm>
          <a:prstGeom prst="line">
            <a:avLst/>
          </a:prstGeom>
          <a:noFill/>
          <a:ln w="12700">
            <a:solidFill>
              <a:srgbClr val="2DA44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68680" y="2084832"/>
            <a:ext cx="207174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9050" dist="1016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78408" y="2194560"/>
            <a:ext cx="438912" cy="438912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227685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endParaRPr lang="en-US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527048" y="2212848"/>
            <a:ext cx="1197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Crear el repositorio</a:t>
            </a:r>
            <a:endParaRPr lang="en-US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0" y="2834640"/>
            <a:ext cx="251011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9050" dist="1016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852928" y="2944368"/>
            <a:ext cx="438912" cy="438912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54811" y="30175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endParaRPr lang="en-US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01568" y="29626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Subir archivos iniciales</a:t>
            </a:r>
            <a:endParaRPr lang="en-US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92040" y="3584448"/>
            <a:ext cx="2880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9050" dist="1016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01768" y="3694176"/>
            <a:ext cx="438912" cy="438912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01768" y="376732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endParaRPr lang="en-US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550408" y="3712464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Registrar cambios con commits</a:t>
            </a:r>
            <a:endParaRPr lang="en-US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223759" y="4334256"/>
            <a:ext cx="2807209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9050" dist="1016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33488" y="4443984"/>
            <a:ext cx="438912" cy="438912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33488" y="451713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  <a:endParaRPr lang="en-US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882128" y="44622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Trabajar mejoras en ramas</a:t>
            </a:r>
            <a:endParaRPr lang="en-US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372600" y="5084064"/>
            <a:ext cx="22402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9050" dist="1016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482328" y="5193792"/>
            <a:ext cx="438912" cy="438912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82328" y="527608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  <a:endParaRPr lang="en-US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030968" y="52120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Revisar con pull requests</a:t>
            </a:r>
            <a:endParaRPr lang="en-US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68680" y="5843015"/>
            <a:ext cx="9829800" cy="38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 alcance conecta directamente con la recomendación del Entregable I: usar GitHub por su facilidad, su colaboración ordenada y funciones como ramas, pull requests e Issues.</a:t>
            </a:r>
            <a:endParaRPr lang="en-US" sz="15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058400" y="1993392"/>
            <a:ext cx="1371600" cy="329184"/>
          </a:xfrm>
          <a:prstGeom prst="rect">
            <a:avLst/>
          </a:prstGeom>
          <a:solidFill>
            <a:srgbClr val="E7F5EC"/>
          </a:solidFill>
          <a:ln>
            <a:solidFill>
              <a:srgbClr val="EEF2F7">
                <a:alpha val="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A44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Alcance claro</a:t>
            </a:r>
            <a:endParaRPr lang="en-US" sz="1250" dirty="0">
              <a:solidFill>
                <a:srgbClr val="2DA44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1292840" y="634593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lecha: cheurón 32">
            <a:extLst>
              <a:ext uri="{FF2B5EF4-FFF2-40B4-BE49-F238E27FC236}">
                <a16:creationId xmlns:a16="http://schemas.microsoft.com/office/drawing/2014/main" id="{A10F9516-7D92-4C3B-B161-2E867E0D73BA}"/>
              </a:ext>
            </a:extLst>
          </p:cNvPr>
          <p:cNvSpPr/>
          <p:nvPr/>
        </p:nvSpPr>
        <p:spPr>
          <a:xfrm>
            <a:off x="360218" y="1256145"/>
            <a:ext cx="11252662" cy="612211"/>
          </a:xfrm>
          <a:prstGeom prst="chevron">
            <a:avLst/>
          </a:prstGeom>
          <a:solidFill>
            <a:srgbClr val="E7F5EC"/>
          </a:solidFill>
          <a:ln>
            <a:solidFill>
              <a:srgbClr val="2DA4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solidFill>
                <a:schemeClr val="tx1"/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291072"/>
            <a:ext cx="1088136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4048"/>
            <a:ext cx="6309360" cy="792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Características más relevantes de GitHub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406640" y="4114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VE" sz="115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Características</a:t>
            </a:r>
            <a:r>
              <a:rPr lang="en-US" sz="115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VE" sz="115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según</a:t>
            </a:r>
            <a:r>
              <a:rPr lang="en-US" sz="115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el alcance</a:t>
            </a:r>
            <a:endParaRPr lang="en-US" sz="11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330475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900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 </a:t>
            </a:r>
            <a:r>
              <a:rPr lang="es-VE" sz="1900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sz="1900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alcance, GitHub destaca por un conjunto de funciones que hacen visible el control de versiones y facilitan explicar el proceso de trabajo.</a:t>
            </a:r>
            <a:endParaRPr lang="en-US" sz="1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82284" y="2499293"/>
            <a:ext cx="0" cy="288036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00098" y="3770309"/>
            <a:ext cx="736437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5924" y="2407853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E7F5EC"/>
          </a:solidFill>
          <a:ln w="12700">
            <a:solidFill>
              <a:srgbClr val="2DA44E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25652" y="2572445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Repositorios</a:t>
            </a:r>
            <a:endParaRPr lang="en-US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25652" y="2846765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Guardan el proyecto y su historial.</a:t>
            </a:r>
            <a:endParaRPr lang="en-US" sz="126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5924" y="4053773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E7F5EC"/>
          </a:solidFill>
          <a:ln w="12700">
            <a:solidFill>
              <a:srgbClr val="2DA44E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25652" y="4218365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Commits</a:t>
            </a:r>
            <a:endParaRPr lang="en-US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5652" y="4492685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Registran cada cambio importante.</a:t>
            </a:r>
            <a:endParaRPr lang="en-US" sz="126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925568" y="1970555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E7F5EC"/>
          </a:solidFill>
          <a:ln w="12700">
            <a:solidFill>
              <a:srgbClr val="2DA44E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6152" y="2133533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Ramas</a:t>
            </a:r>
            <a:endParaRPr lang="en-US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26152" y="2407853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Permiten trabajar sin afectar la versión principal.</a:t>
            </a:r>
            <a:endParaRPr lang="en-US" sz="126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916424" y="4968173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E7F5EC"/>
          </a:solidFill>
          <a:ln w="12700">
            <a:solidFill>
              <a:srgbClr val="2DA44E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30724" y="5141910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Issues</a:t>
            </a:r>
            <a:endParaRPr lang="en-US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30724" y="5416230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Ayudan a organizar tareas y pendientes.</a:t>
            </a:r>
            <a:endParaRPr lang="en-US" sz="126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825484" y="2407853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E7F5EC"/>
          </a:solidFill>
          <a:ln w="12700">
            <a:solidFill>
              <a:srgbClr val="2DA44E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35212" y="2572445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Pull requests</a:t>
            </a:r>
            <a:endParaRPr lang="en-US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935212" y="2846765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Revisan cambios antes de integrarlos.</a:t>
            </a:r>
            <a:endParaRPr lang="en-US" sz="126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825484" y="4053773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E7F5EC"/>
          </a:solidFill>
          <a:ln w="12700">
            <a:solidFill>
              <a:srgbClr val="2DA44E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935212" y="4218365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Facilidad de uso</a:t>
            </a:r>
            <a:endParaRPr lang="en-US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935212" y="4492685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Hace la herramienta accesible para estudiantes.</a:t>
            </a:r>
            <a:endParaRPr lang="en-US" sz="126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286756" y="3258246"/>
            <a:ext cx="1618488" cy="146304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2700">
            <a:solidFill>
              <a:srgbClr val="2DA44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51528" y="3413693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GitHub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292840" y="634593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04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0" name="Picture 4" descr="GitHub Status | Bitrise Integration Steps">
            <a:extLst>
              <a:ext uri="{FF2B5EF4-FFF2-40B4-BE49-F238E27FC236}">
                <a16:creationId xmlns:a16="http://schemas.microsoft.com/office/drawing/2014/main" id="{B19F02ED-1D72-4B56-BB98-2D4245F5F3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726497" y="3761569"/>
            <a:ext cx="748510" cy="74851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Shape 5">
            <a:extLst>
              <a:ext uri="{FF2B5EF4-FFF2-40B4-BE49-F238E27FC236}">
                <a16:creationId xmlns:a16="http://schemas.microsoft.com/office/drawing/2014/main" id="{4A583215-F60F-4146-A7C2-5A2F782F7FF7}"/>
              </a:ext>
            </a:extLst>
          </p:cNvPr>
          <p:cNvSpPr/>
          <p:nvPr/>
        </p:nvSpPr>
        <p:spPr>
          <a:xfrm>
            <a:off x="2400098" y="3413693"/>
            <a:ext cx="0" cy="64008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5F03B87C-EB00-428F-B091-FAA831348230}"/>
              </a:ext>
            </a:extLst>
          </p:cNvPr>
          <p:cNvSpPr/>
          <p:nvPr/>
        </p:nvSpPr>
        <p:spPr>
          <a:xfrm>
            <a:off x="9757812" y="3413693"/>
            <a:ext cx="0" cy="621794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ergamino: horizontal 29">
            <a:extLst>
              <a:ext uri="{FF2B5EF4-FFF2-40B4-BE49-F238E27FC236}">
                <a16:creationId xmlns:a16="http://schemas.microsoft.com/office/drawing/2014/main" id="{190BFF6E-94FA-4BFF-80DC-E76748CDD930}"/>
              </a:ext>
            </a:extLst>
          </p:cNvPr>
          <p:cNvSpPr/>
          <p:nvPr/>
        </p:nvSpPr>
        <p:spPr>
          <a:xfrm>
            <a:off x="471055" y="1320311"/>
            <a:ext cx="10515600" cy="997693"/>
          </a:xfrm>
          <a:prstGeom prst="horizontalScroll">
            <a:avLst/>
          </a:prstGeom>
          <a:solidFill>
            <a:srgbClr val="E7F5EC"/>
          </a:solidFill>
          <a:ln>
            <a:solidFill>
              <a:srgbClr val="2DA4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ln>
                <a:solidFill>
                  <a:srgbClr val="E7F5EC"/>
                </a:solidFill>
              </a:ln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291072"/>
            <a:ext cx="1088136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4047"/>
            <a:ext cx="6309360" cy="813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Parte práctica: flujo básico de trabajo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406640" y="4114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la versión inicial a la integración</a:t>
            </a:r>
            <a:endParaRPr lang="en-US" sz="11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459757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demostración práctica puede explicarse como una secuencia simple y lógica. Cada etapa deja evidencia del control de versiones y del trabajo ordenado dentro del proyecto.</a:t>
            </a:r>
            <a:endParaRPr lang="en-US" sz="1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057400" y="4069080"/>
            <a:ext cx="1078992" cy="0"/>
          </a:xfrm>
          <a:prstGeom prst="line">
            <a:avLst/>
          </a:prstGeom>
          <a:noFill/>
          <a:ln w="12700">
            <a:solidFill>
              <a:srgbClr val="2DA44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51960" y="4069080"/>
            <a:ext cx="1078992" cy="0"/>
          </a:xfrm>
          <a:prstGeom prst="line">
            <a:avLst/>
          </a:prstGeom>
          <a:noFill/>
          <a:ln w="12700">
            <a:solidFill>
              <a:srgbClr val="2DA44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46520" y="4069080"/>
            <a:ext cx="1078992" cy="0"/>
          </a:xfrm>
          <a:prstGeom prst="line">
            <a:avLst/>
          </a:prstGeom>
          <a:noFill/>
          <a:ln w="12700">
            <a:solidFill>
              <a:srgbClr val="2DA44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641080" y="4069080"/>
            <a:ext cx="1078992" cy="0"/>
          </a:xfrm>
          <a:prstGeom prst="line">
            <a:avLst/>
          </a:prstGeom>
          <a:noFill/>
          <a:ln w="12700">
            <a:solidFill>
              <a:srgbClr val="2DA44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05840" y="3429000"/>
            <a:ext cx="17830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397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43000" y="36576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Repo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33856" y="4014216"/>
            <a:ext cx="152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crea el espacio del proyecto</a:t>
            </a:r>
            <a:endParaRPr lang="en-US" sz="128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0" y="3429000"/>
            <a:ext cx="1783080" cy="1325880"/>
          </a:xfrm>
          <a:prstGeom prst="roundRect">
            <a:avLst>
              <a:gd name="adj" fmla="val 6897"/>
            </a:avLst>
          </a:prstGeom>
          <a:solidFill>
            <a:srgbClr val="E7F5EC"/>
          </a:solidFill>
          <a:ln w="12700">
            <a:solidFill>
              <a:srgbClr val="2DA44E"/>
            </a:solidFill>
            <a:prstDash val="solid"/>
          </a:ln>
          <a:effectLst>
            <a:outerShdw blurRad="1397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37560" y="36576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Commit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28416" y="4014216"/>
            <a:ext cx="152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guarda un avance importante</a:t>
            </a:r>
            <a:endParaRPr lang="en-US" sz="128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394960" y="3429000"/>
            <a:ext cx="17830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397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32120" y="36576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Branch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522976" y="4014216"/>
            <a:ext cx="152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trabaja una mejora aparte</a:t>
            </a:r>
            <a:endParaRPr lang="en-US" sz="128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589520" y="3429000"/>
            <a:ext cx="1783080" cy="1325880"/>
          </a:xfrm>
          <a:prstGeom prst="roundRect">
            <a:avLst>
              <a:gd name="adj" fmla="val 6897"/>
            </a:avLst>
          </a:prstGeom>
          <a:solidFill>
            <a:srgbClr val="E7F5EC"/>
          </a:solidFill>
          <a:ln w="12700">
            <a:solidFill>
              <a:srgbClr val="2DA44E"/>
            </a:solidFill>
            <a:prstDash val="solid"/>
          </a:ln>
          <a:effectLst>
            <a:outerShdw blurRad="1397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26680" y="36576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717536" y="4014216"/>
            <a:ext cx="152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revisa antes de unir</a:t>
            </a:r>
            <a:endParaRPr lang="en-US" sz="128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784080" y="3429000"/>
            <a:ext cx="17830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397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921240" y="36576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Main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912096" y="4014216"/>
            <a:ext cx="152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integra a la versión estable</a:t>
            </a:r>
            <a:endParaRPr lang="en-US" sz="128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292840" y="634593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05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22D8D4A-A9D0-4F29-9C13-BC59B2A5B286}"/>
              </a:ext>
            </a:extLst>
          </p:cNvPr>
          <p:cNvSpPr/>
          <p:nvPr/>
        </p:nvSpPr>
        <p:spPr>
          <a:xfrm>
            <a:off x="4756224" y="2628900"/>
            <a:ext cx="2374751" cy="329184"/>
          </a:xfrm>
          <a:prstGeom prst="rect">
            <a:avLst/>
          </a:prstGeom>
          <a:solidFill>
            <a:srgbClr val="E7F5EC"/>
          </a:solidFill>
          <a:ln>
            <a:solidFill>
              <a:srgbClr val="EEF2F7">
                <a:alpha val="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s-VE" sz="1250" b="1" dirty="0">
                <a:solidFill>
                  <a:srgbClr val="2DA44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Secuencia</a:t>
            </a:r>
            <a:endParaRPr lang="es-VE" sz="1250" dirty="0">
              <a:solidFill>
                <a:srgbClr val="2DA44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lecha: cheurón 22">
            <a:extLst>
              <a:ext uri="{FF2B5EF4-FFF2-40B4-BE49-F238E27FC236}">
                <a16:creationId xmlns:a16="http://schemas.microsoft.com/office/drawing/2014/main" id="{61CF3946-D8C3-43AC-9E4F-A7D893C0059D}"/>
              </a:ext>
            </a:extLst>
          </p:cNvPr>
          <p:cNvSpPr/>
          <p:nvPr/>
        </p:nvSpPr>
        <p:spPr>
          <a:xfrm>
            <a:off x="124071" y="1004047"/>
            <a:ext cx="2348753" cy="1129548"/>
          </a:xfrm>
          <a:prstGeom prst="chevron">
            <a:avLst/>
          </a:prstGeom>
          <a:solidFill>
            <a:srgbClr val="E7F5EC"/>
          </a:solidFill>
          <a:ln>
            <a:solidFill>
              <a:srgbClr val="2DA4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tx1"/>
              </a:solidFill>
            </a:endParaRPr>
          </a:p>
        </p:txBody>
      </p:sp>
      <p:sp>
        <p:nvSpPr>
          <p:cNvPr id="24" name="Flecha: cheurón 23">
            <a:extLst>
              <a:ext uri="{FF2B5EF4-FFF2-40B4-BE49-F238E27FC236}">
                <a16:creationId xmlns:a16="http://schemas.microsoft.com/office/drawing/2014/main" id="{A414BE32-AF9B-4047-ABC0-CC2B682D5605}"/>
              </a:ext>
            </a:extLst>
          </p:cNvPr>
          <p:cNvSpPr/>
          <p:nvPr/>
        </p:nvSpPr>
        <p:spPr>
          <a:xfrm>
            <a:off x="2208903" y="1020749"/>
            <a:ext cx="2348753" cy="1129548"/>
          </a:xfrm>
          <a:prstGeom prst="chevron">
            <a:avLst/>
          </a:prstGeom>
          <a:solidFill>
            <a:srgbClr val="E7F5EC"/>
          </a:solidFill>
          <a:ln>
            <a:solidFill>
              <a:srgbClr val="2DA4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tx1"/>
              </a:solidFill>
            </a:endParaRPr>
          </a:p>
        </p:txBody>
      </p:sp>
      <p:sp>
        <p:nvSpPr>
          <p:cNvPr id="25" name="Flecha: cheurón 24">
            <a:extLst>
              <a:ext uri="{FF2B5EF4-FFF2-40B4-BE49-F238E27FC236}">
                <a16:creationId xmlns:a16="http://schemas.microsoft.com/office/drawing/2014/main" id="{A33D21D6-F3F4-4698-BF49-DE40ED58C863}"/>
              </a:ext>
            </a:extLst>
          </p:cNvPr>
          <p:cNvSpPr/>
          <p:nvPr/>
        </p:nvSpPr>
        <p:spPr>
          <a:xfrm>
            <a:off x="4302700" y="1009229"/>
            <a:ext cx="2348753" cy="1129548"/>
          </a:xfrm>
          <a:prstGeom prst="chevron">
            <a:avLst/>
          </a:prstGeom>
          <a:solidFill>
            <a:srgbClr val="E7F5EC"/>
          </a:solidFill>
          <a:ln>
            <a:solidFill>
              <a:srgbClr val="2DA4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tx1"/>
              </a:solidFill>
            </a:endParaRPr>
          </a:p>
        </p:txBody>
      </p:sp>
      <p:sp>
        <p:nvSpPr>
          <p:cNvPr id="26" name="Flecha: cheurón 25">
            <a:extLst>
              <a:ext uri="{FF2B5EF4-FFF2-40B4-BE49-F238E27FC236}">
                <a16:creationId xmlns:a16="http://schemas.microsoft.com/office/drawing/2014/main" id="{9CC7CF28-CBA1-4B85-8F0B-8E79CA0D65A0}"/>
              </a:ext>
            </a:extLst>
          </p:cNvPr>
          <p:cNvSpPr/>
          <p:nvPr/>
        </p:nvSpPr>
        <p:spPr>
          <a:xfrm>
            <a:off x="6387532" y="1014989"/>
            <a:ext cx="2348753" cy="1129548"/>
          </a:xfrm>
          <a:prstGeom prst="chevron">
            <a:avLst/>
          </a:prstGeom>
          <a:solidFill>
            <a:srgbClr val="E7F5EC"/>
          </a:solidFill>
          <a:ln>
            <a:solidFill>
              <a:srgbClr val="2DA4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tx1"/>
              </a:solidFill>
            </a:endParaRPr>
          </a:p>
        </p:txBody>
      </p:sp>
      <p:sp>
        <p:nvSpPr>
          <p:cNvPr id="27" name="Flecha: cheurón 26">
            <a:extLst>
              <a:ext uri="{FF2B5EF4-FFF2-40B4-BE49-F238E27FC236}">
                <a16:creationId xmlns:a16="http://schemas.microsoft.com/office/drawing/2014/main" id="{24AFEA47-B2EC-42E2-8886-1DE3BDF2E86E}"/>
              </a:ext>
            </a:extLst>
          </p:cNvPr>
          <p:cNvSpPr/>
          <p:nvPr/>
        </p:nvSpPr>
        <p:spPr>
          <a:xfrm>
            <a:off x="8472364" y="1021794"/>
            <a:ext cx="2348753" cy="1129548"/>
          </a:xfrm>
          <a:prstGeom prst="chevron">
            <a:avLst/>
          </a:prstGeom>
          <a:solidFill>
            <a:srgbClr val="E7F5EC"/>
          </a:solidFill>
          <a:ln>
            <a:solidFill>
              <a:srgbClr val="2DA4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tx1"/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291072"/>
            <a:ext cx="1088136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404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Resultados esperados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406640" y="4114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Qué demuestra la implementación</a:t>
            </a:r>
            <a:endParaRPr lang="en-US" sz="11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D71686A-C5F9-4897-92F8-B17C5A2276D6}"/>
              </a:ext>
            </a:extLst>
          </p:cNvPr>
          <p:cNvSpPr/>
          <p:nvPr/>
        </p:nvSpPr>
        <p:spPr>
          <a:xfrm>
            <a:off x="749808" y="914602"/>
            <a:ext cx="9595463" cy="1380858"/>
          </a:xfrm>
          <a:prstGeom prst="rect">
            <a:avLst/>
          </a:prstGeom>
          <a:solidFill>
            <a:srgbClr val="E7F5EC"/>
          </a:solidFill>
          <a:ln>
            <a:solidFill>
              <a:srgbClr val="2DA4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7" name="Shape 5"/>
          <p:cNvSpPr/>
          <p:nvPr/>
        </p:nvSpPr>
        <p:spPr>
          <a:xfrm>
            <a:off x="914400" y="4812097"/>
            <a:ext cx="384048" cy="384048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4793809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Mayor orden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 el proyecto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83280" y="4336408"/>
            <a:ext cx="384048" cy="384048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4318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Historial claro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cambios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547539" y="3469488"/>
            <a:ext cx="384048" cy="384048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50459" y="345120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Más seguridad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 probar mejoras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631936" y="2905755"/>
            <a:ext cx="384048" cy="384048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2887467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Mejor revisión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 organización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81683" y="1106424"/>
            <a:ext cx="9445572" cy="961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implementación sirve para comprobar que GitHub no es solo una herramienta teórica: también aporta una forma práctica y visible de controlar versiones dentro de un proyecto académico.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292840" y="634593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06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8" name="Conector: curvado 17">
            <a:extLst>
              <a:ext uri="{FF2B5EF4-FFF2-40B4-BE49-F238E27FC236}">
                <a16:creationId xmlns:a16="http://schemas.microsoft.com/office/drawing/2014/main" id="{52309D66-F031-420B-8073-9A8A68E2FDCC}"/>
              </a:ext>
            </a:extLst>
          </p:cNvPr>
          <p:cNvCxnSpPr>
            <a:cxnSpLocks/>
          </p:cNvCxnSpPr>
          <p:nvPr/>
        </p:nvCxnSpPr>
        <p:spPr>
          <a:xfrm flipV="1">
            <a:off x="1081683" y="3900098"/>
            <a:ext cx="9739434" cy="1726657"/>
          </a:xfrm>
          <a:prstGeom prst="curvedConnector3">
            <a:avLst>
              <a:gd name="adj1" fmla="val 50000"/>
            </a:avLst>
          </a:prstGeom>
          <a:ln>
            <a:solidFill>
              <a:srgbClr val="2DA4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EA0831D-B819-4E33-AF85-22D8F197003B}"/>
              </a:ext>
            </a:extLst>
          </p:cNvPr>
          <p:cNvSpPr/>
          <p:nvPr/>
        </p:nvSpPr>
        <p:spPr>
          <a:xfrm>
            <a:off x="568704" y="2619975"/>
            <a:ext cx="6743792" cy="3433104"/>
          </a:xfrm>
          <a:prstGeom prst="roundRect">
            <a:avLst/>
          </a:prstGeom>
          <a:solidFill>
            <a:srgbClr val="E7F5EC"/>
          </a:solidFill>
          <a:ln>
            <a:solidFill>
              <a:srgbClr val="50B3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6871206-5F63-4669-9B56-77704B43BC6F}"/>
              </a:ext>
            </a:extLst>
          </p:cNvPr>
          <p:cNvSpPr/>
          <p:nvPr/>
        </p:nvSpPr>
        <p:spPr>
          <a:xfrm>
            <a:off x="843024" y="1341885"/>
            <a:ext cx="5101241" cy="994181"/>
          </a:xfrm>
          <a:prstGeom prst="rect">
            <a:avLst/>
          </a:prstGeom>
          <a:solidFill>
            <a:srgbClr val="E7F5EC"/>
          </a:solidFill>
          <a:ln>
            <a:solidFill>
              <a:srgbClr val="50B3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2" name="Shape 0"/>
          <p:cNvSpPr/>
          <p:nvPr/>
        </p:nvSpPr>
        <p:spPr>
          <a:xfrm>
            <a:off x="0" y="-1"/>
            <a:ext cx="12191695" cy="176335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291072"/>
            <a:ext cx="1088136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8529" y="1413111"/>
            <a:ext cx="6343967" cy="85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VE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GitHub es una opción práctica,</a:t>
            </a:r>
            <a:endParaRPr lang="es-VE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s-VE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clara y adecuada para gestionar</a:t>
            </a:r>
            <a:endParaRPr lang="es-VE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s-VE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versiones en un proyecto académico.</a:t>
            </a:r>
            <a:endParaRPr lang="es-VE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43024" y="569619"/>
            <a:ext cx="1645920" cy="396753"/>
          </a:xfrm>
          <a:prstGeom prst="rect">
            <a:avLst/>
          </a:prstGeom>
          <a:solidFill>
            <a:srgbClr val="E7F5EC"/>
          </a:solidFill>
          <a:ln>
            <a:solidFill>
              <a:srgbClr val="E7F5EC">
                <a:alpha val="0"/>
              </a:srgbClr>
            </a:solidFill>
          </a:ln>
        </p:spPr>
        <p:txBody>
          <a:bodyPr wrap="square" lIns="762" tIns="762" rIns="762" bIns="762" rtlCol="0" anchor="ctr"/>
          <a:lstStyle/>
          <a:p>
            <a:pPr algn="ctr"/>
            <a:r>
              <a:rPr lang="es-VE" sz="1400" b="1" dirty="0">
                <a:solidFill>
                  <a:srgbClr val="2DA44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Conclusión</a:t>
            </a:r>
            <a:endParaRPr lang="es-VE" sz="1250" dirty="0">
              <a:solidFill>
                <a:srgbClr val="2DA44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046720" y="3429000"/>
            <a:ext cx="3154680" cy="2424604"/>
          </a:xfrm>
          <a:prstGeom prst="roundRect">
            <a:avLst>
              <a:gd name="adj" fmla="val 4545"/>
            </a:avLst>
          </a:prstGeom>
          <a:solidFill>
            <a:srgbClr val="2DA44E"/>
          </a:solidFill>
          <a:ln w="12700">
            <a:solidFill>
              <a:srgbClr val="D0D7DE"/>
            </a:solidFill>
            <a:prstDash val="solid"/>
          </a:ln>
          <a:effectLst>
            <a:outerShdw blurRad="17780" dist="889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21040" y="4001221"/>
            <a:ext cx="2606040" cy="131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2200" b="1" dirty="0">
                <a:solidFill>
                  <a:srgbClr val="E7F5E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Implementar GitHub demuestra control, orden y trazabilidad.</a:t>
            </a:r>
            <a:endParaRPr lang="es-VE" sz="2200" dirty="0">
              <a:solidFill>
                <a:srgbClr val="E7F5E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292840" y="6345935"/>
            <a:ext cx="320040" cy="198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VE" sz="105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07</a:t>
            </a:r>
            <a:endParaRPr lang="es-VE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Shape 25">
            <a:extLst>
              <a:ext uri="{FF2B5EF4-FFF2-40B4-BE49-F238E27FC236}">
                <a16:creationId xmlns:a16="http://schemas.microsoft.com/office/drawing/2014/main" id="{BFF3AC1A-37BE-41D1-BED4-2D2366296E8C}"/>
              </a:ext>
            </a:extLst>
          </p:cNvPr>
          <p:cNvSpPr/>
          <p:nvPr/>
        </p:nvSpPr>
        <p:spPr>
          <a:xfrm>
            <a:off x="8404226" y="807821"/>
            <a:ext cx="2393576" cy="2189744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2700">
            <a:solidFill>
              <a:srgbClr val="2DA44E">
                <a:alpha val="0"/>
              </a:srgbClr>
            </a:solidFill>
            <a:prstDash val="solid"/>
          </a:ln>
        </p:spPr>
      </p:sp>
      <p:sp>
        <p:nvSpPr>
          <p:cNvPr id="14" name="Text 26">
            <a:extLst>
              <a:ext uri="{FF2B5EF4-FFF2-40B4-BE49-F238E27FC236}">
                <a16:creationId xmlns:a16="http://schemas.microsoft.com/office/drawing/2014/main" id="{2A61B354-7C57-4621-B60F-ECF36189A8D1}"/>
              </a:ext>
            </a:extLst>
          </p:cNvPr>
          <p:cNvSpPr/>
          <p:nvPr/>
        </p:nvSpPr>
        <p:spPr>
          <a:xfrm>
            <a:off x="8605746" y="963269"/>
            <a:ext cx="1920270" cy="301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GitHub</a:t>
            </a:r>
            <a:endParaRPr lang="es-VE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5" name="Picture 4" descr="GitHub Status | Bitrise Integration Steps">
            <a:extLst>
              <a:ext uri="{FF2B5EF4-FFF2-40B4-BE49-F238E27FC236}">
                <a16:creationId xmlns:a16="http://schemas.microsoft.com/office/drawing/2014/main" id="{54E5991E-B008-4A7A-A953-ACB36B50C6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933319" y="1311144"/>
            <a:ext cx="1242726" cy="114004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3">
            <a:extLst>
              <a:ext uri="{FF2B5EF4-FFF2-40B4-BE49-F238E27FC236}">
                <a16:creationId xmlns:a16="http://schemas.microsoft.com/office/drawing/2014/main" id="{5829B302-F759-4633-AED3-9C00935D1714}"/>
              </a:ext>
            </a:extLst>
          </p:cNvPr>
          <p:cNvSpPr/>
          <p:nvPr/>
        </p:nvSpPr>
        <p:spPr>
          <a:xfrm>
            <a:off x="7406640" y="4114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VE" sz="115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Conclusiones</a:t>
            </a:r>
            <a:r>
              <a:rPr lang="en-US" sz="115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la </a:t>
            </a:r>
            <a:r>
              <a:rPr lang="es-VE" sz="1150" dirty="0">
                <a:solidFill>
                  <a:srgbClr val="6B728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tecnología</a:t>
            </a:r>
            <a:endParaRPr lang="es-VE" sz="11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61498001-83C4-4A20-9220-2609A1737D3A}"/>
              </a:ext>
            </a:extLst>
          </p:cNvPr>
          <p:cNvSpPr/>
          <p:nvPr/>
        </p:nvSpPr>
        <p:spPr>
          <a:xfrm>
            <a:off x="843024" y="2556653"/>
            <a:ext cx="6343967" cy="3515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20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¿Por qué usarlo como estudiante?</a:t>
            </a:r>
          </a:p>
          <a:p>
            <a:r>
              <a:rPr lang="es-ES" sz="16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Portafolio Digital: Es tu currículum real. Los reclutadores prefieren ver tu código y tus repositorios antes que un papel.</a:t>
            </a:r>
          </a:p>
          <a:p>
            <a:endParaRPr lang="es-ES" sz="1600" b="1" dirty="0">
              <a:solidFill>
                <a:srgbClr val="111827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s-ES" sz="16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Adiós al caos: Sustituye el envío de archivos por correo o carpetas "Proyecto_Final_V2". Todo está organizado en una sola plataforma.</a:t>
            </a:r>
          </a:p>
          <a:p>
            <a:endParaRPr lang="es-ES" sz="1600" b="1" dirty="0">
              <a:solidFill>
                <a:srgbClr val="111827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s-ES" sz="16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Aprendizaje Colaborativo: Puedes leer código de proyectos de código abierto (Open Source) para mejorar tu propia lógica.</a:t>
            </a:r>
          </a:p>
          <a:p>
            <a:endParaRPr lang="es-ES" sz="1600" b="1" dirty="0">
              <a:solidFill>
                <a:srgbClr val="111827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s-ES" sz="1600" b="1" dirty="0">
                <a:solidFill>
                  <a:srgbClr val="11182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Student Developer Pack: Acceso gratuito a herramientas profesionales, cursos y dominios solo por ser estudiante.</a:t>
            </a:r>
            <a:endParaRPr lang="es-VE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9" name="Conector: angular 18">
            <a:extLst>
              <a:ext uri="{FF2B5EF4-FFF2-40B4-BE49-F238E27FC236}">
                <a16:creationId xmlns:a16="http://schemas.microsoft.com/office/drawing/2014/main" id="{4E8FF477-8846-4F56-BF08-88DCC4881E44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5944265" y="1838976"/>
            <a:ext cx="564111" cy="652503"/>
          </a:xfrm>
          <a:prstGeom prst="bentConnector2">
            <a:avLst/>
          </a:prstGeom>
          <a:ln>
            <a:solidFill>
              <a:srgbClr val="50B3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0D1D2B24-B14C-4789-82E0-2128252A5A36}"/>
              </a:ext>
            </a:extLst>
          </p:cNvPr>
          <p:cNvCxnSpPr>
            <a:stCxn id="9" idx="3"/>
          </p:cNvCxnSpPr>
          <p:nvPr/>
        </p:nvCxnSpPr>
        <p:spPr>
          <a:xfrm>
            <a:off x="7312496" y="4336527"/>
            <a:ext cx="657128" cy="325120"/>
          </a:xfrm>
          <a:prstGeom prst="bentConnector3">
            <a:avLst/>
          </a:prstGeom>
          <a:ln>
            <a:solidFill>
              <a:srgbClr val="50B3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974</Words>
  <Application>Microsoft Office PowerPoint</Application>
  <PresentationFormat>Panorámica</PresentationFormat>
  <Paragraphs>117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Tahoma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Entregable II - Implementación de GitHub</dc:title>
  <dc:subject>Entregable II - Implementación de GitHub</dc:subject>
  <dc:creator>OpenAI</dc:creator>
  <cp:lastModifiedBy>Henry Páez</cp:lastModifiedBy>
  <cp:revision>16</cp:revision>
  <dcterms:created xsi:type="dcterms:W3CDTF">2026-03-12T16:30:43Z</dcterms:created>
  <dcterms:modified xsi:type="dcterms:W3CDTF">2026-03-17T20:33:27Z</dcterms:modified>
</cp:coreProperties>
</file>